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9DF3C-6658-FBB4-73E1-051D3F75D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Diagnóstico de Rendimiento Comercial – </a:t>
            </a:r>
            <a:r>
              <a:rPr lang="es-CL" dirty="0" err="1"/>
              <a:t>eCommerce</a:t>
            </a:r>
            <a:r>
              <a:rPr lang="es-CL" dirty="0"/>
              <a:t> Regional</a:t>
            </a:r>
            <a:br>
              <a:rPr lang="es-CL" dirty="0"/>
            </a:b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7FF06-7A1E-8551-E528-3693A92AF0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Análisis de ventas y concentración de mercado</a:t>
            </a:r>
          </a:p>
          <a:p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3CE92D-EADB-29E0-45B6-0A00B6FB1D21}"/>
              </a:ext>
            </a:extLst>
          </p:cNvPr>
          <p:cNvSpPr txBox="1"/>
          <p:nvPr/>
        </p:nvSpPr>
        <p:spPr>
          <a:xfrm>
            <a:off x="2231571" y="4778829"/>
            <a:ext cx="4702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Julio Durán Murga</a:t>
            </a:r>
          </a:p>
          <a:p>
            <a:r>
              <a:rPr lang="es-CL" dirty="0"/>
              <a:t>Diplomado Fundamentos de </a:t>
            </a:r>
            <a:r>
              <a:rPr lang="es-CL" dirty="0" err="1"/>
              <a:t>Analisis</a:t>
            </a:r>
            <a:r>
              <a:rPr lang="es-CL" dirty="0"/>
              <a:t> de Datos</a:t>
            </a:r>
          </a:p>
          <a:p>
            <a:r>
              <a:rPr lang="es-CL" dirty="0"/>
              <a:t>SENCE</a:t>
            </a:r>
          </a:p>
        </p:txBody>
      </p:sp>
    </p:spTree>
    <p:extLst>
      <p:ext uri="{BB962C8B-B14F-4D97-AF65-F5344CB8AC3E}">
        <p14:creationId xmlns:p14="http://schemas.microsoft.com/office/powerpoint/2010/main" val="1191151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6627-F7DA-7E4E-C0AC-825251896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 del análisis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F65342-E43B-507D-7FDC-54BAD4C7DB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612" y="3140557"/>
            <a:ext cx="1167338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La empresa de </a:t>
            </a:r>
            <a:r>
              <a:rPr kumimoji="0" lang="es-CL" altLang="es-CL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eCommerce</a:t>
            </a: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opera en múltiples ciudades de Chile y Argentina.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Se cuenta con información de clientes, compras y montos totales.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Se detecta la necesidad de evaluar el rendimiento comercial por zona geográfica.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El objetivo es identificar posibles desequilibrios en la distribución de ventas. </a:t>
            </a:r>
          </a:p>
        </p:txBody>
      </p:sp>
    </p:spTree>
    <p:extLst>
      <p:ext uri="{BB962C8B-B14F-4D97-AF65-F5344CB8AC3E}">
        <p14:creationId xmlns:p14="http://schemas.microsoft.com/office/powerpoint/2010/main" val="66795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1B917-DC14-8A29-4715-571AFC23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 identificado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F5A17B-7013-CF00-1CE5-07F3DFDB1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097014"/>
            <a:ext cx="9708107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Existe una posible dependencia excesiva de una sola ciudad.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Esto representa un riesgo estratégico para el negocio.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 baja en esa zona podría afectar significativamente los ingresos.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requiere validar esta hipótesis mediante análisis de datos. </a:t>
            </a:r>
          </a:p>
        </p:txBody>
      </p:sp>
    </p:spTree>
    <p:extLst>
      <p:ext uri="{BB962C8B-B14F-4D97-AF65-F5344CB8AC3E}">
        <p14:creationId xmlns:p14="http://schemas.microsoft.com/office/powerpoint/2010/main" val="368422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920EA-C657-B6B7-D7CC-9A893CD8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Insight</a:t>
            </a:r>
            <a:r>
              <a:rPr lang="es-CL" dirty="0"/>
              <a:t> clave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8EC01A-BC1D-C93E-43B9-9FB93B7FF3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3042194"/>
            <a:ext cx="1072280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observa una alta concentración de ventas en Santiago de Chile.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ciudad representa la mayor parte de los ingresos totales.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demás ciudades presentan una participación considerablemente menor </a:t>
            </a:r>
          </a:p>
        </p:txBody>
      </p:sp>
    </p:spTree>
    <p:extLst>
      <p:ext uri="{BB962C8B-B14F-4D97-AF65-F5344CB8AC3E}">
        <p14:creationId xmlns:p14="http://schemas.microsoft.com/office/powerpoint/2010/main" val="586119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</p:grp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933B46D5-42D5-4194-B895-B45DCFF22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8896DCC-8879-4CF3-BB2D-0C535C805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281238" cy="5289551"/>
            <a:chOff x="0" y="-1"/>
            <a:chExt cx="2281238" cy="528955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34630B0-6EE6-4DFE-9FC5-0988FED6C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2"/>
              <a:ext cx="23813" cy="2181225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605C0C27-BDE8-4899-B838-C0DC2EAB8C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EDC3E8DB-0AA9-4C49-A986-24A6D44A52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7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34CA156-4C5B-4EAD-99BC-E2C734D5A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4"/>
              <a:ext cx="28575" cy="4481513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reeform 9">
              <a:extLst>
                <a:ext uri="{FF2B5EF4-FFF2-40B4-BE49-F238E27FC236}">
                  <a16:creationId xmlns:a16="http://schemas.microsoft.com/office/drawing/2014/main" id="{5E568387-0266-4411-9330-8E9CD9B82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C84DAA3E-ACD2-4620-8906-7C7280CE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4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reeform 11">
              <a:extLst>
                <a:ext uri="{FF2B5EF4-FFF2-40B4-BE49-F238E27FC236}">
                  <a16:creationId xmlns:a16="http://schemas.microsoft.com/office/drawing/2014/main" id="{2D86F227-CF83-476B-B657-D6B0C53B3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7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14934B78-B04C-4CFA-A64D-EFA402E14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2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Freeform 13">
              <a:extLst>
                <a:ext uri="{FF2B5EF4-FFF2-40B4-BE49-F238E27FC236}">
                  <a16:creationId xmlns:a16="http://schemas.microsoft.com/office/drawing/2014/main" id="{60B3248E-2504-49B9-879B-D0158482C8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4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CA4F4223-FB0B-4CA0-8913-341EDCD78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-1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Freeform 15">
              <a:extLst>
                <a:ext uri="{FF2B5EF4-FFF2-40B4-BE49-F238E27FC236}">
                  <a16:creationId xmlns:a16="http://schemas.microsoft.com/office/drawing/2014/main" id="{42327D55-3076-45A9-8C23-54CC450F3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8" name="Freeform 16">
              <a:extLst>
                <a:ext uri="{FF2B5EF4-FFF2-40B4-BE49-F238E27FC236}">
                  <a16:creationId xmlns:a16="http://schemas.microsoft.com/office/drawing/2014/main" id="{10BA2659-760C-445C-96A9-155F0BF0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9" name="Freeform 17">
              <a:extLst>
                <a:ext uri="{FF2B5EF4-FFF2-40B4-BE49-F238E27FC236}">
                  <a16:creationId xmlns:a16="http://schemas.microsoft.com/office/drawing/2014/main" id="{9EF5E6EC-49CF-43A0-8ED2-136FCDCAD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2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0" name="Freeform 18">
              <a:extLst>
                <a:ext uri="{FF2B5EF4-FFF2-40B4-BE49-F238E27FC236}">
                  <a16:creationId xmlns:a16="http://schemas.microsoft.com/office/drawing/2014/main" id="{F4A1A617-AE8C-49B0-9B78-F0E2BFB2B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49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Freeform 19">
              <a:extLst>
                <a:ext uri="{FF2B5EF4-FFF2-40B4-BE49-F238E27FC236}">
                  <a16:creationId xmlns:a16="http://schemas.microsoft.com/office/drawing/2014/main" id="{4B1C21A9-2A27-4BA8-AB2C-E2F23D93F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2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2" name="Freeform 20">
              <a:extLst>
                <a:ext uri="{FF2B5EF4-FFF2-40B4-BE49-F238E27FC236}">
                  <a16:creationId xmlns:a16="http://schemas.microsoft.com/office/drawing/2014/main" id="{803E4DF0-86BE-4F7B-99D9-A4DAF790A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3" name="Freeform 21">
              <a:extLst>
                <a:ext uri="{FF2B5EF4-FFF2-40B4-BE49-F238E27FC236}">
                  <a16:creationId xmlns:a16="http://schemas.microsoft.com/office/drawing/2014/main" id="{324C4266-1501-454D-A3A2-C60585E379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2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4" name="Freeform 24">
              <a:extLst>
                <a:ext uri="{FF2B5EF4-FFF2-40B4-BE49-F238E27FC236}">
                  <a16:creationId xmlns:a16="http://schemas.microsoft.com/office/drawing/2014/main" id="{335F4B74-90BA-4372-9744-660DE1DAE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5" name="Freeform 25">
              <a:extLst>
                <a:ext uri="{FF2B5EF4-FFF2-40B4-BE49-F238E27FC236}">
                  <a16:creationId xmlns:a16="http://schemas.microsoft.com/office/drawing/2014/main" id="{676BC228-1D88-4E9F-A39C-485245F38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2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6" name="Freeform 26">
              <a:extLst>
                <a:ext uri="{FF2B5EF4-FFF2-40B4-BE49-F238E27FC236}">
                  <a16:creationId xmlns:a16="http://schemas.microsoft.com/office/drawing/2014/main" id="{82C283AD-515F-427B-A581-F1EC42B2F8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4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7" name="Freeform 27">
              <a:extLst>
                <a:ext uri="{FF2B5EF4-FFF2-40B4-BE49-F238E27FC236}">
                  <a16:creationId xmlns:a16="http://schemas.microsoft.com/office/drawing/2014/main" id="{A211013C-44EA-4C7F-867A-70F84606A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49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8" name="Freeform 28">
              <a:extLst>
                <a:ext uri="{FF2B5EF4-FFF2-40B4-BE49-F238E27FC236}">
                  <a16:creationId xmlns:a16="http://schemas.microsoft.com/office/drawing/2014/main" id="{5A091894-50E1-4B1B-94B2-693B5DC5A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7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33665320-A7B0-4BE7-B587-654A5E130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2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0" name="Freeform 36">
              <a:extLst>
                <a:ext uri="{FF2B5EF4-FFF2-40B4-BE49-F238E27FC236}">
                  <a16:creationId xmlns:a16="http://schemas.microsoft.com/office/drawing/2014/main" id="{5E731000-CA59-41D5-BBAF-4CF0C93C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2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3ADE52FC-89F2-4DE3-90F2-23F8A19B5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7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Freeform 38">
              <a:extLst>
                <a:ext uri="{FF2B5EF4-FFF2-40B4-BE49-F238E27FC236}">
                  <a16:creationId xmlns:a16="http://schemas.microsoft.com/office/drawing/2014/main" id="{C598494B-717D-4E29-9D55-F0FEF36C0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2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4E748B28-C809-4A72-BA26-B42706005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2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1B55B6D8-6E87-41B4-8C20-4C59AB35B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7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5" name="Freeform 41">
              <a:extLst>
                <a:ext uri="{FF2B5EF4-FFF2-40B4-BE49-F238E27FC236}">
                  <a16:creationId xmlns:a16="http://schemas.microsoft.com/office/drawing/2014/main" id="{8AF0CB98-D797-4C0F-B534-B53FFEC58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7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6" name="Freeform 42">
              <a:extLst>
                <a:ext uri="{FF2B5EF4-FFF2-40B4-BE49-F238E27FC236}">
                  <a16:creationId xmlns:a16="http://schemas.microsoft.com/office/drawing/2014/main" id="{8161F426-0884-4746-ADFB-ED2E8ED5E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7" name="Freeform 43">
              <a:extLst>
                <a:ext uri="{FF2B5EF4-FFF2-40B4-BE49-F238E27FC236}">
                  <a16:creationId xmlns:a16="http://schemas.microsoft.com/office/drawing/2014/main" id="{9FB6AEF0-B7A7-4C34-8BCA-D1939E5C0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7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8" name="Freeform 44">
              <a:extLst>
                <a:ext uri="{FF2B5EF4-FFF2-40B4-BE49-F238E27FC236}">
                  <a16:creationId xmlns:a16="http://schemas.microsoft.com/office/drawing/2014/main" id="{C4221C70-D5F8-42A7-B0AF-B63791EFA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4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89" name="Freeform 57">
              <a:extLst>
                <a:ext uri="{FF2B5EF4-FFF2-40B4-BE49-F238E27FC236}">
                  <a16:creationId xmlns:a16="http://schemas.microsoft.com/office/drawing/2014/main" id="{4C075733-AA99-4CB2-934E-9F42E6FC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4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90" name="Freeform 58">
              <a:extLst>
                <a:ext uri="{FF2B5EF4-FFF2-40B4-BE49-F238E27FC236}">
                  <a16:creationId xmlns:a16="http://schemas.microsoft.com/office/drawing/2014/main" id="{266B426D-F5FB-456F-84B5-2DACFEA7A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2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FFFFFF">
                <a:alpha val="70000"/>
              </a:srgbClr>
            </a:solidFill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2" name="Round Diagonal Corner Rectangle 6">
            <a:extLst>
              <a:ext uri="{FF2B5EF4-FFF2-40B4-BE49-F238E27FC236}">
                <a16:creationId xmlns:a16="http://schemas.microsoft.com/office/drawing/2014/main" id="{083A6575-45DF-4CD7-8E7D-50E51B82D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1680" y="808057"/>
            <a:ext cx="9370695" cy="5234394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5D9C1B-80D2-8633-C413-7B1F0170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169" y="1136606"/>
            <a:ext cx="4468053" cy="457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3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4C7C8-7E7C-0695-D350-62B91431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Recomendaciones estratégicas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222225-8C54-1803-3720-BD1D53D85C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097014"/>
            <a:ext cx="1018900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Diversificar la estrategia comercial hacia otras ciudades.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Implementar campañas de marketing en regiones con bajo rendimiento.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Incentivar la captación de nuevos clientes fuera de Santiago.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Reducir la dependencia de un único mercado. </a:t>
            </a:r>
          </a:p>
        </p:txBody>
      </p:sp>
    </p:spTree>
    <p:extLst>
      <p:ext uri="{BB962C8B-B14F-4D97-AF65-F5344CB8AC3E}">
        <p14:creationId xmlns:p14="http://schemas.microsoft.com/office/powerpoint/2010/main" val="2008661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7A84C-8019-549F-F19C-AEEE0A4F0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9393CF-6D42-74A7-79DF-11DE10756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4478" y="3223910"/>
            <a:ext cx="1131752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análisis permitió identificar un riesgo de concentración.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visualización facilitó la comprensión del problema.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toma de decisiones basada en datos permite mejorar la estrategia comercial. </a:t>
            </a:r>
          </a:p>
        </p:txBody>
      </p:sp>
    </p:spTree>
    <p:extLst>
      <p:ext uri="{BB962C8B-B14F-4D97-AF65-F5344CB8AC3E}">
        <p14:creationId xmlns:p14="http://schemas.microsoft.com/office/powerpoint/2010/main" val="27548927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{829FBF6A-595E-431A-B7AE-AD4C003EFABD}TF6d5feb1e-e145-43f1-b745-cb4b54c5ee97494f94d6-c317f2461df2</Template>
  <TotalTime>11</TotalTime>
  <Words>230</Words>
  <Application>Microsoft Office PowerPoint</Application>
  <PresentationFormat>Panorámica</PresentationFormat>
  <Paragraphs>33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Diagnóstico de Rendimiento Comercial – eCommerce Regional </vt:lpstr>
      <vt:lpstr>Contexto del análisis</vt:lpstr>
      <vt:lpstr>Problema identificado</vt:lpstr>
      <vt:lpstr>Insight clave</vt:lpstr>
      <vt:lpstr>Presentación de PowerPoint</vt:lpstr>
      <vt:lpstr>Recomendaciones estratégicas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Syaoran Uchiha</dc:creator>
  <cp:lastModifiedBy>Syaoran Uchiha</cp:lastModifiedBy>
  <cp:revision>1</cp:revision>
  <dcterms:created xsi:type="dcterms:W3CDTF">2026-03-28T23:47:02Z</dcterms:created>
  <dcterms:modified xsi:type="dcterms:W3CDTF">2026-03-28T23:58:18Z</dcterms:modified>
</cp:coreProperties>
</file>